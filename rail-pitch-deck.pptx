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lus Jakarta Sans"/>
              </a:rPr>
              <a:t>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Plus Jakarta Sans"/>
              </a:rPr>
              <a:t>Your money account that
invests for you — automatically.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2E01"/>
                </a:solidFill>
                <a:latin typeface="Plus Jakarta Sans"/>
              </a:rPr>
              <a:t>
invests for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Plus Jakarta Sans"/>
              </a:rPr>
              <a:t>Spend normally. Rail allocates a portion of every deposit toward long-term
investments in the background. No dashboards. No decisions. No discipline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Plus Jakarta Sans"/>
              </a:rPr>
              <a:t>Solana Mobile · Monolith Hackathon 2026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8290560" cy="6217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Plus Jakarta Sans"/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2E01"/>
                </a:solidFill>
                <a:latin typeface="Plus Jakarta San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lus Jakarta Sans"/>
              </a:rPr>
              <a:t>Millions work for years but never build
meaningful investments.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42032"/>
            <a:ext cx="76200" cy="76200"/>
          </a:xfrm>
          <a:prstGeom prst="rect">
            <a:avLst/>
          </a:prstGeom>
          <a:solidFill>
            <a:srgbClr val="FF2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Plus Jakarta Sans"/>
              </a:rPr>
              <a:t>Saving requires constant discipline most people don't sustain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044952"/>
            <a:ext cx="76200" cy="76200"/>
          </a:xfrm>
          <a:prstGeom prst="rect">
            <a:avLst/>
          </a:prstGeom>
          <a:solidFill>
            <a:srgbClr val="FF2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Plus Jakarta Sans"/>
              </a:rPr>
              <a:t>Investing requires decisions people avoid making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547872"/>
            <a:ext cx="76200" cy="76200"/>
          </a:xfrm>
          <a:prstGeom prst="rect">
            <a:avLst/>
          </a:prstGeom>
          <a:solidFill>
            <a:srgbClr val="FF2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Plus Jakarta Sans"/>
              </a:rPr>
              <a:t>Most financial apps rely on users to stay consistent — they don't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206240"/>
            <a:ext cx="7315200" cy="594360"/>
          </a:xfrm>
          <a:prstGeom prst="rect">
            <a:avLst/>
          </a:prstGeom>
          <a:solidFill>
            <a:srgbClr val="1A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206240"/>
            <a:ext cx="38100" cy="594360"/>
          </a:xfrm>
          <a:prstGeom prst="rect">
            <a:avLst/>
          </a:prstGeom>
          <a:solidFill>
            <a:srgbClr val="FF2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If investing is not automatic, most people never do it consistently.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Plus Jakarta Sans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2E01"/>
                </a:solidFill>
                <a:latin typeface="Plus Jakarta Sans"/>
              </a:rPr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80808"/>
                </a:solidFill>
                <a:latin typeface="Plus Jakarta Sans"/>
              </a:rPr>
              <a:t>A primary money account where spending feels normal
and investing happens automatically.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3291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97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Plus Jakarta Sans"/>
              </a:rPr>
              <a:t>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0808"/>
                </a:solidFill>
                <a:latin typeface="Plus Jakarta Sans"/>
              </a:rPr>
              <a:t>No market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534E"/>
                </a:solidFill>
                <a:latin typeface="Plus Jakarta Sans"/>
              </a:rPr>
              <a:t>Users never need to watch charts or manage dashboards.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560320"/>
            <a:ext cx="3291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697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Plus Jakarta Sans"/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0808"/>
                </a:solidFill>
                <a:latin typeface="Plus Jakarta Sans"/>
              </a:rPr>
              <a:t>Auto-allocation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5661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534E"/>
                </a:solidFill>
                <a:latin typeface="Plus Jakarta Sans"/>
              </a:rPr>
              <a:t>Every deposit is automatically split between spending and investing.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560320"/>
            <a:ext cx="3291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697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Plus Jakarta Sans"/>
              </a:rP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0808"/>
                </a:solidFill>
                <a:latin typeface="Plus Jakarta Sans"/>
              </a:rPr>
              <a:t>Zero behavior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5661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534E"/>
                </a:solidFill>
                <a:latin typeface="Plus Jakarta Sans"/>
              </a:rPr>
              <a:t>Users spend normally. Rail builds wealth in the background.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6938C"/>
                </a:solidFill>
                <a:latin typeface="Plus Jakarta Sans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2E01"/>
                </a:solidFill>
                <a:latin typeface="Plus Jakarta Sans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lus Jakarta Sans"/>
              </a:rPr>
              <a:t>Three steps. That's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2E01"/>
                </a:solidFill>
                <a:latin typeface="Plus Jakarta Sa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lus Jakarta Sans"/>
              </a:rPr>
              <a:t>Deposit funds into 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194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6938C"/>
                </a:solidFill>
                <a:latin typeface="Plus Jakarta Sans"/>
              </a:rPr>
              <a:t>Via bank transfer, crypto, or card — money lands in your Rail account.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2E01"/>
                </a:solidFill>
                <a:latin typeface="Plus Jakarta San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lus Jakarta Sans"/>
              </a:rPr>
              <a:t>Rail splits automatically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00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6938C"/>
                </a:solidFill>
                <a:latin typeface="Plus Jakarta Sans"/>
              </a:rPr>
              <a:t>A set percentage is allocated to your investment stash — no action needed.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2E01"/>
                </a:solidFill>
                <a:latin typeface="Plus Jakarta San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931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lus Jakarta Sans"/>
              </a:rPr>
              <a:t>Investments execute in the background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206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6938C"/>
                </a:solidFill>
                <a:latin typeface="Plus Jakarta Sans"/>
              </a:rPr>
              <a:t>While you spend normally through your Rail card, your portfolio grows.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029200"/>
            <a:ext cx="7315200" cy="5943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5029200"/>
            <a:ext cx="38100" cy="5943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1206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FFCC"/>
                </a:solidFill>
                <a:latin typeface="Plus Jakarta Sans"/>
              </a:rPr>
              <a:t>Users build long-term financial progress without changing their spending behavior.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Plus Jakarta Sans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2E01"/>
                </a:solidFill>
                <a:latin typeface="Plus Jakarta Sans"/>
              </a:rPr>
              <a:t>PRODUCT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lus Jakarta Sans"/>
              </a:rPr>
              <a:t>See it in 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2194560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lus Jakarta Sans"/>
              </a:rPr>
              <a:t>💳  Deposit funds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965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6938C"/>
                </a:solidFill>
                <a:latin typeface="Plus Jakarta Sans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828800"/>
            <a:ext cx="2194560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7451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lus Jakarta Sans"/>
              </a:rPr>
              <a:t>⚡  Rail allocates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965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6938C"/>
                </a:solidFill>
                <a:latin typeface="Plus Jakarta San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828800"/>
            <a:ext cx="2194560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87451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lus Jakarta Sans"/>
              </a:rPr>
              <a:t>📈  Investment grows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65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6938C"/>
                </a:solidFill>
                <a:latin typeface="Plus Jakarta Sans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59" y="1828800"/>
            <a:ext cx="2194560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799" y="187451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lus Jakarta Sans"/>
              </a:rPr>
              <a:t>🛍️  Spend normally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651760"/>
            <a:ext cx="3291840" cy="14630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938C"/>
                </a:solidFill>
                <a:latin typeface="Plus Jakarta Sans"/>
              </a:rPr>
              <a:t>SPENDING STASH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lus Jakarta Sans"/>
              </a:rPr>
              <a:t>$840.00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74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6938C"/>
                </a:solidFill>
                <a:latin typeface="Plus Jakarta Sans"/>
              </a:rPr>
              <a:t>Available to spend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651760"/>
            <a:ext cx="3291840" cy="14630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938C"/>
                </a:solidFill>
                <a:latin typeface="Plus Jakarta Sans"/>
              </a:rPr>
              <a:t>INVESTMENT STASH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53"/>
                </a:solidFill>
                <a:latin typeface="Plus Jakarta Sans"/>
              </a:rPr>
              <a:t>$312.50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474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6938C"/>
                </a:solidFill>
                <a:latin typeface="Plus Jakarta Sans"/>
              </a:rPr>
              <a:t>+4.2% this month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2651760"/>
            <a:ext cx="3291840" cy="14630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938C"/>
                </a:solidFill>
                <a:latin typeface="Plus Jakarta Sans"/>
              </a:rPr>
              <a:t>AUTO-INVESTED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53"/>
                </a:solidFill>
                <a:latin typeface="Plus Jakarta Sans"/>
              </a:rPr>
              <a:t>$1,152.50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74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6938C"/>
                </a:solidFill>
                <a:latin typeface="Plus Jakarta Sans"/>
              </a:rPr>
              <a:t>Total, all 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389120"/>
            <a:ext cx="7315200" cy="594360"/>
          </a:xfrm>
          <a:prstGeom prst="rect">
            <a:avLst/>
          </a:prstGeom>
          <a:solidFill>
            <a:srgbClr val="1A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4389120"/>
            <a:ext cx="38100" cy="594360"/>
          </a:xfrm>
          <a:prstGeom prst="rect">
            <a:avLst/>
          </a:prstGeom>
          <a:solidFill>
            <a:srgbClr val="FF2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4805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💡  Every time money enters Rail, investing happens automatically. No manual action required.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Plus Jakarta Sans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2E01"/>
                </a:solidFill>
                <a:latin typeface="Plus Jakarta Sans"/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80808"/>
                </a:solidFill>
                <a:latin typeface="Plus Jakarta Sans"/>
              </a:rPr>
              <a:t>People whose income already flows digitally.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2084831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30552"/>
            <a:ext cx="190195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0808"/>
                </a:solidFill>
                <a:latin typeface="Plus Jakarta Sans"/>
              </a:rPr>
              <a:t>Remote workers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36391" y="2103120"/>
            <a:ext cx="1755648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73551" y="2130552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0808"/>
                </a:solidFill>
                <a:latin typeface="Plus Jakarta Sans"/>
              </a:rPr>
              <a:t>Freelancers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199" y="2103120"/>
            <a:ext cx="1426464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59" y="2130552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0808"/>
                </a:solidFill>
                <a:latin typeface="Plus Jakarta Sans"/>
              </a:rPr>
              <a:t>Creators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92823" y="2103120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9983" y="21305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0808"/>
                </a:solidFill>
                <a:latin typeface="Plus Jakarta Sans"/>
              </a:rPr>
              <a:t>Global professionals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73183" y="2103120"/>
            <a:ext cx="2852928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10343" y="2130552"/>
            <a:ext cx="2670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0808"/>
                </a:solidFill>
                <a:latin typeface="Plus Jakarta Sans"/>
              </a:rPr>
              <a:t>Crypto-native earners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743200"/>
            <a:ext cx="35661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8346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80808"/>
                </a:solidFill>
                <a:latin typeface="Plus Jakarta Sans"/>
              </a:rPr>
              <a:t>$200B+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337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6534E"/>
                </a:solidFill>
                <a:latin typeface="Plus Jakarta Sans"/>
              </a:rPr>
              <a:t>Stablecoin transaction volume in 2024 — growing fast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743200"/>
            <a:ext cx="35661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28346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80808"/>
                </a:solidFill>
                <a:latin typeface="Plus Jakarta Sans"/>
              </a:rPr>
              <a:t>35M+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337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6534E"/>
                </a:solidFill>
                <a:latin typeface="Plus Jakarta Sans"/>
              </a:rPr>
              <a:t>Digital nomads and remote workers globally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114800"/>
            <a:ext cx="35661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206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80808"/>
                </a:solidFill>
                <a:latin typeface="Plus Jakarta Sans"/>
              </a:rPr>
              <a:t>↑3×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709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6534E"/>
                </a:solidFill>
                <a:latin typeface="Plus Jakarta Sans"/>
              </a:rPr>
              <a:t>Stablecoin adoption growth over the last 2 years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4114800"/>
            <a:ext cx="35661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206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80808"/>
                </a:solidFill>
                <a:latin typeface="Plus Jakarta Sans"/>
              </a:rPr>
              <a:t>$0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709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6534E"/>
                </a:solidFill>
                <a:latin typeface="Plus Jakarta Sans"/>
              </a:rPr>
              <a:t>Automated investing tools built for this audience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6938C"/>
                </a:solidFill>
                <a:latin typeface="Plus Jakarta Sans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2E01"/>
                </a:solidFill>
                <a:latin typeface="Plus Jakarta Sans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lus Jakarta Sans"/>
              </a:rPr>
              <a:t>Three clear revenue streams.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8229600" cy="7772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Plus Jakarta Sans"/>
              </a:rPr>
              <a:t>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0574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Card Interchange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31343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6938C"/>
                </a:solidFill>
                <a:latin typeface="Plus Jakarta Sans"/>
              </a:rPr>
              <a:t>Revenue every time a user spends through their Rail card.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8229600" cy="7772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Plus Jakarta Sans"/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718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Asset Management Fees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2783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6938C"/>
                </a:solidFill>
                <a:latin typeface="Plus Jakarta Sans"/>
              </a:rPr>
              <a:t>Small percentage on assets under management — scales with user growth.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749039"/>
            <a:ext cx="8229600" cy="7772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1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Plus Jakarta Sans"/>
              </a:rPr>
              <a:t>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886199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Rail+ 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142231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6938C"/>
                </a:solidFill>
                <a:latin typeface="Plus Jakarta Sans"/>
              </a:rPr>
              <a:t>Advanced financial tools, higher allocation limits, priority support.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937760"/>
            <a:ext cx="7315200" cy="685800"/>
          </a:xfrm>
          <a:prstGeom prst="rect">
            <a:avLst/>
          </a:prstGeom>
          <a:solidFill>
            <a:srgbClr val="031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4937760"/>
            <a:ext cx="38100" cy="6858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292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FFCC"/>
                </a:solidFill>
                <a:latin typeface="Plus Jakarta Sans"/>
              </a:rPr>
              <a:t>10,000 users × $1,000 invested = $10M AUM. A 0.5% management fee = $50K ARR — before interchange or premium revenue.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Plus Jakarta Sans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2E01"/>
                </a:solidFill>
                <a:latin typeface="Plus Jakarta Sans"/>
              </a:rP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80808"/>
                </a:solidFill>
                <a:latin typeface="Plus Jakarta Sans"/>
              </a:rPr>
              <a:t>Early but real.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32918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2E01"/>
                </a:solidFill>
                <a:latin typeface="Plus Jakarta Sans"/>
              </a:rPr>
              <a:t>30+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974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534E"/>
                </a:solidFill>
                <a:latin typeface="Plus Jakarta Sans"/>
              </a:rPr>
              <a:t>Early testers ready to use the product on launch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920240"/>
            <a:ext cx="32918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80808"/>
                </a:solidFill>
                <a:latin typeface="Plus Jakarta San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974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534E"/>
                </a:solidFill>
                <a:latin typeface="Plus Jakarta Sans"/>
              </a:rPr>
              <a:t>Full product flow built and running on TestFlight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920240"/>
            <a:ext cx="32918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0116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80808"/>
                </a:solidFill>
                <a:latin typeface="Plus Jakarta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6974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534E"/>
                </a:solidFill>
                <a:latin typeface="Plus Jakarta Sans"/>
              </a:rPr>
              <a:t>Investment automation system live end-to-end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6938C"/>
                </a:solidFill>
                <a:latin typeface="Plus Jakarta Sans"/>
              </a:rPr>
              <a:t>Infrastructure partnerships in progress. Initial focus: controlled beta to validate user behavior and retention before scaling acquisition.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6938C"/>
                </a:solidFill>
                <a:latin typeface="Plus Jakarta Sans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2E01"/>
                </a:solidFill>
                <a:latin typeface="Plus Jakarta San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lus Jakarta Sans"/>
              </a:rPr>
              <a:t>Where we're going.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27000" cy="127000"/>
          </a:xfrm>
          <a:prstGeom prst="rect">
            <a:avLst/>
          </a:prstGeom>
          <a:solidFill>
            <a:srgbClr val="FF2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920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2E01"/>
                </a:solidFill>
                <a:latin typeface="Plus Jakarta Sans"/>
              </a:rPr>
              <a:t>Q1 2026 —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Private beta launch with early testers. Core auto-invest flow live.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017520"/>
            <a:ext cx="127000" cy="127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6938C"/>
                </a:solidFill>
                <a:latin typeface="Plus Jakarta Sans"/>
              </a:rPr>
              <a:t>Q2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Plus Jakarta Sans"/>
              </a:rPr>
              <a:t>Public product launch. Rail card rollout. User acquisition begins.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023360"/>
            <a:ext cx="127000" cy="127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931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6938C"/>
                </a:solidFill>
                <a:latin typeface="Plus Jakarta Sans"/>
              </a:rPr>
              <a:t>Q3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206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Plus Jakarta Sans"/>
              </a:rPr>
              <a:t>Expanded automated investing strategies. Retention optimization.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029200"/>
            <a:ext cx="127000" cy="127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937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6938C"/>
                </a:solidFill>
                <a:latin typeface="Plus Jakarta Sans"/>
              </a:rPr>
              <a:t>Q4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212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Plus Jakarta Sans"/>
              </a:rPr>
              <a:t>Lending, smart allocations, and advanced financial automation.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Plus Jakarta Sans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2E01"/>
                </a:solidFill>
                <a:latin typeface="Plus Jakarta Sans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80808"/>
                </a:solidFill>
                <a:latin typeface="Plus Jakarta Sans"/>
              </a:rPr>
              <a:t>Built by someone who lived this problem.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64008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80808"/>
                </a:solidFill>
                <a:latin typeface="Plus Jakarta Sans"/>
              </a:rPr>
              <a:t>Tobi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6938C"/>
                </a:solidFill>
                <a:latin typeface="Plus Jakarta Sans"/>
              </a:rPr>
              <a:t>FOUNDER &amp; BUILDER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090672"/>
            <a:ext cx="76200" cy="76200"/>
          </a:xfrm>
          <a:prstGeom prst="rect">
            <a:avLst/>
          </a:prstGeom>
          <a:solidFill>
            <a:srgbClr val="FF2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6534E"/>
                </a:solidFill>
                <a:latin typeface="Plus Jakarta Sans"/>
              </a:rPr>
              <a:t>Several years building products and shipping to real 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93591"/>
            <a:ext cx="76200" cy="76200"/>
          </a:xfrm>
          <a:prstGeom prst="rect">
            <a:avLst/>
          </a:prstGeom>
          <a:solidFill>
            <a:srgbClr val="FF2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204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6534E"/>
                </a:solidFill>
                <a:latin typeface="Plus Jakarta Sans"/>
              </a:rPr>
              <a:t>Multiple hackathon participations — knows how to ship fast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096512"/>
            <a:ext cx="76200" cy="76200"/>
          </a:xfrm>
          <a:prstGeom prst="rect">
            <a:avLst/>
          </a:prstGeom>
          <a:solidFill>
            <a:srgbClr val="FF2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23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6534E"/>
                </a:solidFill>
                <a:latin typeface="Plus Jakarta Sans"/>
              </a:rPr>
              <a:t>Rail was inspired by growing up in a household where financial stability was difficult despite consistent 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846320"/>
            <a:ext cx="7315200" cy="685800"/>
          </a:xfrm>
          <a:prstGeom prst="rect">
            <a:avLst/>
          </a:prstGeom>
          <a:solidFill>
            <a:srgbClr val="F0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846320"/>
            <a:ext cx="38100" cy="685800"/>
          </a:xfrm>
          <a:prstGeom prst="rect">
            <a:avLst/>
          </a:prstGeom>
          <a:solidFill>
            <a:srgbClr val="FF2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0808"/>
                </a:solidFill>
                <a:latin typeface="Plus Jakarta Sans"/>
              </a:rPr>
              <a:t>"Build a system where financial progress happens automatically — for everyone, not just the disciplined."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6938C"/>
                </a:solidFill>
                <a:latin typeface="Plus Jakarta Sans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lus Jakarta Sans"/>
              </a:rPr>
              <a:t>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Plus Jakarta Sans"/>
              </a:rPr>
              <a:t>Financial progress
should be automatic.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AAAA"/>
                </a:solidFill>
                <a:latin typeface="Plus Jakarta Sans"/>
              </a:rPr>
              <a:t>Join the waitlist. Test the product. Tell us what you think.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4114800"/>
            <a:ext cx="2011680" cy="502920"/>
          </a:xfrm>
          <a:prstGeom prst="rect">
            <a:avLst/>
          </a:prstGeom>
          <a:solidFill>
            <a:srgbClr val="FF2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0" y="4133087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lus Jakarta Sans"/>
              </a:rPr>
              <a:t>Join the waitlist 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4114800"/>
            <a:ext cx="1645920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4133087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lus Jakarta Sans"/>
              </a:rPr>
              <a:t>Try the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Plus Jakarta Sans"/>
              </a:rPr>
              <a:t>rail.app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Plus Jakarta Sans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